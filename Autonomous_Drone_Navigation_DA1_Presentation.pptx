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/>
              <a:t>AUTONOMOUS DRONE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063240"/>
            <a:ext cx="10149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GPS-independent local navigation using onboard sensing, ROS 2 and obstacle avoidance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Background &amp;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</a:pPr>
            <a:r>
              <a:rPr sz="1700"/>
              <a:t>UAV autonomy combines sensing, localization, planning and control.</a:t>
            </a:r>
          </a:p>
          <a:p>
            <a:pPr>
              <a:spcAft>
                <a:spcPts val="700"/>
              </a:spcAft>
            </a:pPr>
            <a:r>
              <a:rPr sz="1700"/>
              <a:t>GNSS/GPS may be unavailable or unreliable in indoor and constrained environments.</a:t>
            </a:r>
          </a:p>
          <a:p>
            <a:pPr>
              <a:spcAft>
                <a:spcPts val="700"/>
              </a:spcAft>
            </a:pPr>
            <a:r>
              <a:rPr sz="1700"/>
              <a:t>IMU gives high-rate motion data but integrated position drifts.</a:t>
            </a:r>
          </a:p>
          <a:p>
            <a:pPr>
              <a:spcAft>
                <a:spcPts val="700"/>
              </a:spcAft>
            </a:pPr>
            <a:r>
              <a:rPr sz="1700"/>
              <a:t>Project goal: demonstrate a controlled, measurable GPS-independent navigation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Conventional small-drone autonomy often depends on GNSS/GPS for global position. In indoor, urban-obstructed, underground, or otherwise GNSS-denied environments, that position source can be unavailable or unreliable. An IMU provides high-rate motion information but its integrated position estimate accumulates drift. Therefore, a practical autonomous drone needs an onboard state-estimation pipeline that combines IMU data with complementary measurements, together with local obstacle sensing and a navigation/controller stack.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Existing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</a:pPr>
            <a:r>
              <a:rPr sz="1700"/>
              <a:t>IMU + GNSS/INS — strong global reference but depends on GNSS.</a:t>
            </a:r>
          </a:p>
          <a:p>
            <a:pPr>
              <a:spcAft>
                <a:spcPts val="700"/>
              </a:spcAft>
            </a:pPr>
            <a:r>
              <a:rPr sz="1700"/>
              <a:t>Visual-inertial odometry — improves local estimation but adds perception/computation.</a:t>
            </a:r>
          </a:p>
          <a:p>
            <a:pPr>
              <a:spcAft>
                <a:spcPts val="700"/>
              </a:spcAft>
            </a:pPr>
            <a:r>
              <a:rPr sz="1700"/>
              <a:t>LiDAR/IMU and UWB/VIO — stronger drift constraints but higher hardware complexity.</a:t>
            </a:r>
          </a:p>
          <a:p>
            <a:pPr>
              <a:spcAft>
                <a:spcPts val="700"/>
              </a:spcAft>
            </a:pPr>
            <a:r>
              <a:rPr sz="1700"/>
              <a:t>Map-based and mapless navigation — different trade-offs in computation, path quality and exploration.</a:t>
            </a:r>
          </a:p>
          <a:p>
            <a:pPr>
              <a:spcAft>
                <a:spcPts val="700"/>
              </a:spcAft>
            </a:pPr>
            <a:r>
              <a:rPr sz="1700"/>
              <a:t>Learning-based navigation — promising but adds training and validation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</a:pPr>
            <a:r>
              <a:rPr sz="1700"/>
              <a:t>Chang et al. (2023): taxonomy and evaluation of GPS-denied UAV navigation.</a:t>
            </a:r>
          </a:p>
          <a:p>
            <a:pPr>
              <a:spcAft>
                <a:spcPts val="700"/>
              </a:spcAft>
            </a:pPr>
            <a:r>
              <a:rPr sz="1700"/>
              <a:t>Gyagenda et al. (2022): GNSS-independent perception, localization and planning.</a:t>
            </a:r>
          </a:p>
          <a:p>
            <a:pPr>
              <a:spcAft>
                <a:spcPts val="700"/>
              </a:spcAft>
            </a:pPr>
            <a:r>
              <a:rPr sz="1700"/>
              <a:t>Youn et al. (2021): low-cost sensor fusion, SLAM and collision-free indoor flight.</a:t>
            </a:r>
          </a:p>
          <a:p>
            <a:pPr>
              <a:spcAft>
                <a:spcPts val="700"/>
              </a:spcAft>
            </a:pPr>
            <a:r>
              <a:rPr sz="1700"/>
              <a:t>Lu et al. (2022): complete GPS-denied MAV architecture.</a:t>
            </a:r>
          </a:p>
          <a:p>
            <a:pPr>
              <a:spcAft>
                <a:spcPts val="700"/>
              </a:spcAft>
            </a:pPr>
            <a:r>
              <a:rPr sz="1700"/>
              <a:t>Ayala et al. (2024): systematic review of autonomous object-goal navigation.</a:t>
            </a:r>
          </a:p>
          <a:p>
            <a:pPr>
              <a:spcAft>
                <a:spcPts val="700"/>
              </a:spcAft>
            </a:pPr>
            <a:r>
              <a:rPr sz="1700"/>
              <a:t>Lin &amp; Zhan (2022): UWB-aided visual-inertial localization.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Research / Engineering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</a:pPr>
            <a:r>
              <a:rPr sz="1700"/>
              <a:t>The individual technologies are established; the project should not claim them as novel.</a:t>
            </a:r>
          </a:p>
          <a:p>
            <a:pPr>
              <a:spcAft>
                <a:spcPts val="700"/>
              </a:spcAft>
            </a:pPr>
            <a:r>
              <a:rPr sz="1700"/>
              <a:t>Target gap: a compact, student-scale integration of estimation, goal navigation, obstacle safety and PX4 control.</a:t>
            </a:r>
          </a:p>
          <a:p>
            <a:pPr>
              <a:spcAft>
                <a:spcPts val="700"/>
              </a:spcAft>
            </a:pPr>
            <a:r>
              <a:rPr sz="1700"/>
              <a:t>Use complementary sensing to manage inertial drift.</a:t>
            </a:r>
          </a:p>
          <a:p>
            <a:pPr>
              <a:spcAft>
                <a:spcPts val="700"/>
              </a:spcAft>
            </a:pPr>
            <a:r>
              <a:rPr sz="1700"/>
              <a:t>Evaluate the complete pipeline with repeatable metrics and fault/recovery tests.</a:t>
            </a:r>
          </a:p>
          <a:p>
            <a:pPr>
              <a:spcAft>
                <a:spcPts val="700"/>
              </a:spcAft>
            </a:pPr>
            <a:r>
              <a:rPr sz="1700"/>
              <a:t>Design around accessible hardware and simulation-first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</a:pPr>
            <a:r>
              <a:rPr sz="1700"/>
              <a:t>Integrate a flight controller with a ROS 2 companion-computer stack.</a:t>
            </a:r>
          </a:p>
          <a:p>
            <a:pPr>
              <a:spcAft>
                <a:spcPts val="700"/>
              </a:spcAft>
            </a:pPr>
            <a:r>
              <a:rPr sz="1700"/>
              <a:t>Acquire and process IMU data and complementary aiding measurements for local state estimation.</a:t>
            </a:r>
          </a:p>
          <a:p>
            <a:pPr>
              <a:spcAft>
                <a:spcPts val="700"/>
              </a:spcAft>
            </a:pPr>
            <a:r>
              <a:rPr sz="1700"/>
              <a:t>Estimate attitude and local motion without using GPS as the navigation source.</a:t>
            </a:r>
          </a:p>
          <a:p>
            <a:pPr>
              <a:spcAft>
                <a:spcPts val="700"/>
              </a:spcAft>
            </a:pPr>
            <a:r>
              <a:rPr sz="1700"/>
              <a:t>Generate a route or waypoint trajectory from a start position to a destination.</a:t>
            </a:r>
          </a:p>
          <a:p>
            <a:pPr>
              <a:spcAft>
                <a:spcPts val="700"/>
              </a:spcAft>
            </a:pPr>
            <a:r>
              <a:rPr sz="1700"/>
              <a:t>Detect obstacles within the local flight corridor using onboard range sensing.</a:t>
            </a:r>
          </a:p>
          <a:p>
            <a:pPr>
              <a:spcAft>
                <a:spcPts val="700"/>
              </a:spcAft>
            </a:pPr>
            <a:r>
              <a:rPr sz="1700"/>
              <a:t>Modify or stop planned motion when an obstacle creates an unsafe path.</a:t>
            </a:r>
          </a:p>
          <a:p>
            <a:pPr>
              <a:spcAft>
                <a:spcPts val="700"/>
              </a:spcAft>
            </a:pPr>
            <a:r>
              <a:rPr sz="1700"/>
              <a:t>Evaluate navigation accuracy, obstacle avoidance, completion rate and response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</a:pPr>
            <a:r>
              <a:rPr sz="1700"/>
              <a:t>1. Sensor acquisition and calibration</a:t>
            </a:r>
          </a:p>
          <a:p>
            <a:pPr>
              <a:spcAft>
                <a:spcPts val="700"/>
              </a:spcAft>
            </a:pPr>
            <a:r>
              <a:rPr sz="1700"/>
              <a:t>2. Local state estimation from IMU + complementary aiding</a:t>
            </a:r>
          </a:p>
          <a:p>
            <a:pPr>
              <a:spcAft>
                <a:spcPts val="700"/>
              </a:spcAft>
            </a:pPr>
            <a:r>
              <a:rPr sz="1700"/>
              <a:t>3. Receive destination / waypoint goal</a:t>
            </a:r>
          </a:p>
          <a:p>
            <a:pPr>
              <a:spcAft>
                <a:spcPts val="700"/>
              </a:spcAft>
            </a:pPr>
            <a:r>
              <a:rPr sz="1700"/>
              <a:t>4. Generate route and local trajectory</a:t>
            </a:r>
          </a:p>
          <a:p>
            <a:pPr>
              <a:spcAft>
                <a:spcPts val="700"/>
              </a:spcAft>
            </a:pPr>
            <a:r>
              <a:rPr sz="1700"/>
              <a:t>5. Continuously monitor obstacle safety zone</a:t>
            </a:r>
          </a:p>
          <a:p>
            <a:pPr>
              <a:spcAft>
                <a:spcPts val="700"/>
              </a:spcAft>
            </a:pPr>
            <a:r>
              <a:rPr sz="1700"/>
              <a:t>6. Send trajectory/setpoints through ROS 2 → PX4</a:t>
            </a:r>
          </a:p>
          <a:p>
            <a:pPr>
              <a:spcAft>
                <a:spcPts val="700"/>
              </a:spcAft>
            </a:pPr>
            <a:r>
              <a:rPr sz="1700"/>
              <a:t>7. Hover/stop/reroute on obstacle or fault</a:t>
            </a:r>
          </a:p>
          <a:p>
            <a:pPr>
              <a:spcAft>
                <a:spcPts val="700"/>
              </a:spcAft>
            </a:pPr>
            <a:r>
              <a:rPr sz="1700"/>
              <a:t>8. Reach goal, land and log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Hardware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</a:pPr>
            <a:r>
              <a:rPr sz="1700"/>
              <a:t>Quadrotor frame + motors + ESCs</a:t>
            </a:r>
          </a:p>
          <a:p>
            <a:pPr>
              <a:spcAft>
                <a:spcPts val="700"/>
              </a:spcAft>
            </a:pPr>
            <a:r>
              <a:rPr sz="1700"/>
              <a:t>PX4-compatible flight controller</a:t>
            </a:r>
          </a:p>
          <a:p>
            <a:pPr>
              <a:spcAft>
                <a:spcPts val="700"/>
              </a:spcAft>
            </a:pPr>
            <a:r>
              <a:rPr sz="1700"/>
              <a:t>Raspberry Pi-class companion computer</a:t>
            </a:r>
          </a:p>
          <a:p>
            <a:pPr>
              <a:spcAft>
                <a:spcPts val="700"/>
              </a:spcAft>
            </a:pPr>
            <a:r>
              <a:rPr sz="1700"/>
              <a:t>IMU / flight-controller inertial sensors</a:t>
            </a:r>
          </a:p>
          <a:p>
            <a:pPr>
              <a:spcAft>
                <a:spcPts val="700"/>
              </a:spcAft>
            </a:pPr>
            <a:r>
              <a:rPr sz="1700"/>
              <a:t>Optical-flow or local-motion aid (recommended)</a:t>
            </a:r>
          </a:p>
          <a:p>
            <a:pPr>
              <a:spcAft>
                <a:spcPts val="700"/>
              </a:spcAft>
            </a:pPr>
            <a:r>
              <a:rPr sz="1700"/>
              <a:t>Range sensor / ToF / LiDAR for obstacle detection</a:t>
            </a:r>
          </a:p>
          <a:p>
            <a:pPr>
              <a:spcAft>
                <a:spcPts val="700"/>
              </a:spcAft>
            </a:pPr>
            <a:r>
              <a:rPr sz="1700"/>
              <a:t>Battery, power distribution, regulators and safety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ROS 2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</a:pPr>
            <a:r>
              <a:rPr sz="1700"/>
              <a:t>Sensors → state_estimator → /state/odom</a:t>
            </a:r>
          </a:p>
          <a:p>
            <a:pPr>
              <a:spcAft>
                <a:spcPts val="700"/>
              </a:spcAft>
            </a:pPr>
            <a:r>
              <a:rPr sz="1700"/>
              <a:t>mission_manager → goal → planner</a:t>
            </a:r>
          </a:p>
          <a:p>
            <a:pPr>
              <a:spcAft>
                <a:spcPts val="700"/>
              </a:spcAft>
            </a:pPr>
            <a:r>
              <a:rPr sz="1700"/>
              <a:t>obstacle_monitor → safety constraints</a:t>
            </a:r>
          </a:p>
          <a:p>
            <a:pPr>
              <a:spcAft>
                <a:spcPts val="700"/>
              </a:spcAft>
            </a:pPr>
            <a:r>
              <a:rPr sz="1700"/>
              <a:t>local_planner → local trajectory</a:t>
            </a:r>
          </a:p>
          <a:p>
            <a:pPr>
              <a:spcAft>
                <a:spcPts val="700"/>
              </a:spcAft>
            </a:pPr>
            <a:r>
              <a:rPr sz="1700"/>
              <a:t>trajectory_controller → PX4 setpoints</a:t>
            </a:r>
          </a:p>
          <a:p>
            <a:pPr>
              <a:spcAft>
                <a:spcPts val="700"/>
              </a:spcAft>
            </a:pPr>
            <a:r>
              <a:rPr sz="1700"/>
              <a:t>PX4 ↔ uXRCE-DDS ↔ ROS 2 companion computer</a:t>
            </a:r>
          </a:p>
          <a:p>
            <a:pPr>
              <a:spcAft>
                <a:spcPts val="700"/>
              </a:spcAft>
            </a:pPr>
            <a:r>
              <a:rPr sz="1700"/>
              <a:t>RViz2 / logger → visualization and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</a:pPr>
            <a:r>
              <a:rPr sz="1700"/>
              <a:t>Navigation success rate — percentage of trials reaching the goal without manual takeover.</a:t>
            </a:r>
          </a:p>
          <a:p>
            <a:pPr>
              <a:spcAft>
                <a:spcPts val="700"/>
              </a:spcAft>
            </a:pPr>
            <a:r>
              <a:rPr sz="1700"/>
              <a:t>Goal error — distance between final estimated position and target.</a:t>
            </a:r>
          </a:p>
          <a:p>
            <a:pPr>
              <a:spcAft>
                <a:spcPts val="700"/>
              </a:spcAft>
            </a:pPr>
            <a:r>
              <a:rPr sz="1700"/>
              <a:t>Path length — actual distance travelled versus planned route.</a:t>
            </a:r>
          </a:p>
          <a:p>
            <a:pPr>
              <a:spcAft>
                <a:spcPts val="700"/>
              </a:spcAft>
            </a:pPr>
            <a:r>
              <a:rPr sz="1700"/>
              <a:t>Obstacle response time — detection to safe stop/avoidance command.</a:t>
            </a:r>
          </a:p>
          <a:p>
            <a:pPr>
              <a:spcAft>
                <a:spcPts val="700"/>
              </a:spcAft>
            </a:pPr>
            <a:r>
              <a:rPr sz="1700"/>
              <a:t>Collision/near-collision rate — trials breaching the safety margin.</a:t>
            </a:r>
          </a:p>
          <a:p>
            <a:pPr>
              <a:spcAft>
                <a:spcPts val="700"/>
              </a:spcAft>
            </a:pPr>
            <a:r>
              <a:rPr sz="1700"/>
              <a:t>Waypoint completion rate — waypoints reached within tolerance.</a:t>
            </a:r>
          </a:p>
          <a:p>
            <a:pPr>
              <a:spcAft>
                <a:spcPts val="700"/>
              </a:spcAft>
            </a:pPr>
            <a:r>
              <a:rPr sz="1700"/>
              <a:t>Recovery success rate — successful return to a safe state after injected faults.</a:t>
            </a:r>
          </a:p>
          <a:p>
            <a:pPr>
              <a:spcAft>
                <a:spcPts val="700"/>
              </a:spcAft>
            </a:pPr>
            <a:r>
              <a:rPr sz="1700"/>
              <a:t>Latency — processing and communication delay in critical navigation paths.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Future Scope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</a:pPr>
            <a:r>
              <a:rPr sz="1700"/>
              <a:t>Visual-inertial odometry and 3-D SLAM</a:t>
            </a:r>
          </a:p>
          <a:p>
            <a:pPr>
              <a:spcAft>
                <a:spcPts val="700"/>
              </a:spcAft>
            </a:pPr>
            <a:r>
              <a:rPr sz="1700"/>
              <a:t>UWB/LiDAR fusion</a:t>
            </a:r>
          </a:p>
          <a:p>
            <a:pPr>
              <a:spcAft>
                <a:spcPts val="700"/>
              </a:spcAft>
            </a:pPr>
            <a:r>
              <a:rPr sz="1700"/>
              <a:t>Dynamic-obstacle prediction</a:t>
            </a:r>
          </a:p>
          <a:p>
            <a:pPr>
              <a:spcAft>
                <a:spcPts val="700"/>
              </a:spcAft>
            </a:pPr>
            <a:r>
              <a:rPr sz="1700"/>
              <a:t>Learning-based navigation</a:t>
            </a:r>
          </a:p>
          <a:p>
            <a:pPr>
              <a:spcAft>
                <a:spcPts val="700"/>
              </a:spcAft>
            </a:pPr>
            <a:r>
              <a:rPr sz="1700"/>
              <a:t>Larger outdoor GPS-denied experiments</a:t>
            </a:r>
          </a:p>
          <a:p>
            <a:pPr>
              <a:spcAft>
                <a:spcPts val="700"/>
              </a:spcAft>
            </a:pPr>
            <a:r>
              <a:rPr sz="1700"/>
              <a:t>Key references: Chang et al. 2023; Gyagenda et al. 2022; Youn et al. 2021; Lu et al. 2022; Ayala et al. 2024; Lin &amp; Zhan 2022; PX4/ROS 2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