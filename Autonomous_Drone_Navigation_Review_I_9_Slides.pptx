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418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0B5C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28232"/>
            <a:ext cx="4389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 •  ROS 2 MVP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100" b="1">
                <a:solidFill>
                  <a:srgbClr val="23D3EE"/>
                </a:solidFill>
                <a:latin typeface="Aptos"/>
              </a:defRPr>
            </a:pPr>
            <a:r>
              <a:t>CONFIDENCE-AWARE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572768"/>
            <a:ext cx="11064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900" b="1">
                <a:solidFill>
                  <a:srgbClr val="F2F7FC"/>
                </a:solidFill>
                <a:latin typeface="Aptos"/>
              </a:defRPr>
            </a:pPr>
            <a:r>
              <a:t>GPS-INDEPENDENT AUTONOMOUS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14884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F2F7FC"/>
                </a:solidFill>
                <a:latin typeface="Aptos"/>
              </a:defRPr>
            </a:pPr>
            <a:r>
              <a:t>DRONE NAVIGATION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3886200"/>
            <a:ext cx="6355080" cy="960120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418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54680" y="4142232"/>
            <a:ext cx="5897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2F7FC"/>
                </a:solidFill>
                <a:latin typeface="Aptos"/>
              </a:defRPr>
            </a:pPr>
            <a:r>
              <a:t>SENSING  →  LOCAL STATE  →  NAVIGATION  → 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32120"/>
            <a:ext cx="11064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3D3EE"/>
                </a:solidFill>
                <a:latin typeface="Aptos"/>
              </a:defRPr>
            </a:pPr>
            <a:r>
              <a:t>PROJECT REVIEW –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418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F2F7FC"/>
                </a:solidFill>
                <a:latin typeface="Aptos"/>
              </a:defRPr>
            </a:pPr>
            <a:r>
              <a:t>PROJECT IDEA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A0B5C7"/>
                </a:solidFill>
                <a:latin typeface="Aptos"/>
              </a:defRPr>
            </a:pPr>
            <a:r>
              <a:t>What are we building?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0B5C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28232"/>
            <a:ext cx="4389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 •  ROS 2 MVP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353312"/>
            <a:ext cx="1065276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1389888"/>
            <a:ext cx="365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D3E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1371600"/>
            <a:ext cx="9555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GPS-independent autonomous drone navigation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157984"/>
            <a:ext cx="1065276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2194560"/>
            <a:ext cx="365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D3E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2176272"/>
            <a:ext cx="9555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Onboard sensing replaces GPS dependency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2962656"/>
            <a:ext cx="1065276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2999232"/>
            <a:ext cx="365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D3E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2980944"/>
            <a:ext cx="9555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Local coordinate frame enables navigation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767328"/>
            <a:ext cx="1065276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3803904"/>
            <a:ext cx="365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D3E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3785615"/>
            <a:ext cx="9555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Confidence controls navigation behavior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572000"/>
            <a:ext cx="1065276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4608576"/>
            <a:ext cx="365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D3E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590288"/>
            <a:ext cx="9555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ROS 2 integrates complete navigation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418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F2F7FC"/>
                </a:solidFill>
                <a:latin typeface="Aptos"/>
              </a:defRPr>
            </a:pPr>
            <a:r>
              <a:t>BACKGROUND &amp; SIGNIFICANCE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A0B5C7"/>
                </a:solidFill>
                <a:latin typeface="Aptos"/>
              </a:defRPr>
            </a:pPr>
            <a:r>
              <a:t>Why does this problem matter?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0B5C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28232"/>
            <a:ext cx="4389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 •  ROS 2 MVP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353312"/>
            <a:ext cx="1065276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1389888"/>
            <a:ext cx="365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D3E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1371600"/>
            <a:ext cx="9555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GNSS supports conventional drone navigation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157984"/>
            <a:ext cx="1065276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2194560"/>
            <a:ext cx="365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D3E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2176272"/>
            <a:ext cx="9555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Indoor environments challenge satellite positioning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2962656"/>
            <a:ext cx="1065276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2999232"/>
            <a:ext cx="365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D3E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2980944"/>
            <a:ext cx="9555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GPS-denied navigation improves operational resilience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767328"/>
            <a:ext cx="1065276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3803904"/>
            <a:ext cx="365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D3E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3785615"/>
            <a:ext cx="9555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Autonomous sensing reduces external dependency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572000"/>
            <a:ext cx="1065276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4608576"/>
            <a:ext cx="365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D3E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590288"/>
            <a:ext cx="9555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Inspection rescue applications benefit significantly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418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F2F7FC"/>
                </a:solidFill>
                <a:latin typeface="Aptos"/>
              </a:defRPr>
            </a:pPr>
            <a:r>
              <a:t>LITERATURE SURVEY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A0B5C7"/>
                </a:solidFill>
                <a:latin typeface="Aptos"/>
              </a:defRPr>
            </a:pPr>
            <a:r>
              <a:t>What existing research tells 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0B5C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28232"/>
            <a:ext cx="4389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 •  ROS 2 MVP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1325880"/>
            <a:ext cx="1074420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1399032"/>
            <a:ext cx="2057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3D3EE"/>
                </a:solidFill>
                <a:latin typeface="Aptos"/>
              </a:defRPr>
            </a:pPr>
            <a:r>
              <a:t>GYAGENDA 2022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1399032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2F7FC"/>
                </a:solidFill>
                <a:latin typeface="Aptos"/>
              </a:defRPr>
            </a:pPr>
            <a:r>
              <a:t>GNSS-independent navigation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99032"/>
            <a:ext cx="4709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0B5C7"/>
                </a:solidFill>
                <a:latin typeface="Aptos"/>
              </a:defRPr>
            </a:pPr>
            <a:r>
              <a:t>Multiple subsystems required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075688"/>
            <a:ext cx="1074420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2148840"/>
            <a:ext cx="2057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3D3EE"/>
                </a:solidFill>
                <a:latin typeface="Aptos"/>
              </a:defRPr>
            </a:pPr>
            <a:r>
              <a:t>CHANG 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214884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2F7FC"/>
                </a:solidFill>
                <a:latin typeface="Aptos"/>
              </a:defRPr>
            </a:pPr>
            <a:r>
              <a:t>GPS-denied UAV navigation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148840"/>
            <a:ext cx="4709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0B5C7"/>
                </a:solidFill>
                <a:latin typeface="Aptos"/>
              </a:defRPr>
            </a:pPr>
            <a:r>
              <a:t>Complete navigation pipeline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2825496"/>
            <a:ext cx="1074420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2898648"/>
            <a:ext cx="2057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3D3EE"/>
                </a:solidFill>
                <a:latin typeface="Aptos"/>
              </a:defRPr>
            </a:pPr>
            <a:r>
              <a:t>YOUN 2021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2898648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2F7FC"/>
                </a:solidFill>
                <a:latin typeface="Aptos"/>
              </a:defRPr>
            </a:pPr>
            <a:r>
              <a:t>Low-cost autonomous UAV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898648"/>
            <a:ext cx="4709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0B5C7"/>
                </a:solidFill>
                <a:latin typeface="Aptos"/>
              </a:defRPr>
            </a:pPr>
            <a:r>
              <a:t>Sensor fusion + obstacle avoidance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575304"/>
            <a:ext cx="1074420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6112" y="3648456"/>
            <a:ext cx="2057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3D3EE"/>
                </a:solidFill>
                <a:latin typeface="Aptos"/>
              </a:defRPr>
            </a:pPr>
            <a:r>
              <a:t>QIN 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3648456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2F7FC"/>
                </a:solidFill>
                <a:latin typeface="Aptos"/>
              </a:defRPr>
            </a:pPr>
            <a:r>
              <a:t>Visual-inertial estimation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648456"/>
            <a:ext cx="4709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0B5C7"/>
                </a:solidFill>
                <a:latin typeface="Aptos"/>
              </a:defRPr>
            </a:pPr>
            <a:r>
              <a:t>Complementary sensing reduces drift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325112"/>
            <a:ext cx="1074420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6112" y="4398264"/>
            <a:ext cx="2057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3D3EE"/>
                </a:solidFill>
                <a:latin typeface="Aptos"/>
              </a:defRPr>
            </a:pPr>
            <a:r>
              <a:t>CAMPOS 2021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3240" y="4398264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2F7FC"/>
                </a:solidFill>
                <a:latin typeface="Aptos"/>
              </a:defRPr>
            </a:pPr>
            <a:r>
              <a:t>Visual-inertial SLAM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398264"/>
            <a:ext cx="4709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0B5C7"/>
                </a:solidFill>
                <a:latin typeface="Aptos"/>
              </a:defRPr>
            </a:pPr>
            <a:r>
              <a:t>Mapping improves robustness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504688"/>
            <a:ext cx="10149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t>Key insight: complementary sensing + modular architecture + explicit safety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418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F2F7FC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A0B5C7"/>
                </a:solidFill>
                <a:latin typeface="Aptos"/>
              </a:defRPr>
            </a:pPr>
            <a:r>
              <a:t>What problem are we solving?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0B5C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28232"/>
            <a:ext cx="4389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 •  ROS 2 MVP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353312"/>
            <a:ext cx="1065276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1389888"/>
            <a:ext cx="365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D3E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1371600"/>
            <a:ext cx="9555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GPS unavailable in constrained environments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157984"/>
            <a:ext cx="1065276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2194560"/>
            <a:ext cx="365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D3E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2176272"/>
            <a:ext cx="9555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IMU integration causes position drift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2962656"/>
            <a:ext cx="1065276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2999232"/>
            <a:ext cx="365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D3E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2980944"/>
            <a:ext cx="9555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Manual control requires continuous attention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767328"/>
            <a:ext cx="1065276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3803904"/>
            <a:ext cx="365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D3E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3785615"/>
            <a:ext cx="9555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Localization alone cannot prevent collisions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572000"/>
            <a:ext cx="1065276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4608576"/>
            <a:ext cx="365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D3E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590288"/>
            <a:ext cx="9555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Complex solutions require significant resources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74519" y="5486400"/>
            <a:ext cx="8412480" cy="621792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E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057400" y="5586984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2F7FC"/>
                </a:solidFill>
                <a:latin typeface="Aptos"/>
              </a:defRPr>
            </a:pPr>
            <a:r>
              <a:t>HOW CAN A DRONE REACH A DESTINATION WITHOUT GPS?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418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F2F7FC"/>
                </a:solidFill>
                <a:latin typeface="Aptos"/>
              </a:defRPr>
            </a:pPr>
            <a:r>
              <a:t>PROPOSED SOLUTION &amp;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A0B5C7"/>
                </a:solidFill>
                <a:latin typeface="Aptos"/>
              </a:defRPr>
            </a:pPr>
            <a:r>
              <a:t>Our answer to the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0B5C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28232"/>
            <a:ext cx="4389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 •  ROS 2 MVP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353312"/>
            <a:ext cx="1065276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1389888"/>
            <a:ext cx="365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D3E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1371600"/>
            <a:ext cx="9555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Onboard sensors estimate local motion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157984"/>
            <a:ext cx="1065276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2194560"/>
            <a:ext cx="365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D3E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2176272"/>
            <a:ext cx="9555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State estimator maintains usable 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2962656"/>
            <a:ext cx="1065276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2999232"/>
            <a:ext cx="365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D3E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2980944"/>
            <a:ext cx="9555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Confidence manager evaluates sensor reliability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767328"/>
            <a:ext cx="1065276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3803904"/>
            <a:ext cx="365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D3E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3785615"/>
            <a:ext cx="9555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Goal navigation generates destination commands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572000"/>
            <a:ext cx="10652760" cy="621792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1B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4608576"/>
            <a:ext cx="365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D3E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590288"/>
            <a:ext cx="9555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2F7FC"/>
                </a:solidFill>
                <a:latin typeface="Aptos"/>
              </a:defRPr>
            </a:pPr>
            <a:r>
              <a:t>Safety layer controls drone behavior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5504688"/>
            <a:ext cx="7589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D3EE"/>
                </a:solidFill>
                <a:latin typeface="Aptos"/>
              </a:defRPr>
            </a:pPr>
            <a:r>
              <a:t>NORMAL  →  CAUTIOUS  →  SAFE HOLD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879592"/>
            <a:ext cx="8503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A0B5C7"/>
                </a:solidFill>
                <a:latin typeface="Aptos"/>
              </a:defRPr>
            </a:pPr>
            <a:r>
              <a:t>Navigate when confident • Slow when uncertain • Stop when unsafe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418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F2F7FC"/>
                </a:solidFill>
                <a:latin typeface="Aptos"/>
              </a:defRPr>
            </a:pPr>
            <a:r>
              <a:t>METHODOLOGY FLOWCHART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A0B5C7"/>
                </a:solidFill>
                <a:latin typeface="Aptos"/>
              </a:defRPr>
            </a:pPr>
            <a:r>
              <a:t>Closed-loop MVP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0B5C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28232"/>
            <a:ext cx="4389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 •  ROS 2 MVP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1" y="1289304"/>
            <a:ext cx="960120" cy="822960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4903" y="1362456"/>
            <a:ext cx="813816" cy="4526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t>START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61871" y="1700784"/>
            <a:ext cx="320040" cy="0"/>
          </a:xfrm>
          <a:prstGeom prst="line">
            <a:avLst/>
          </a:prstGeom>
          <a:ln w="2286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581911" y="1289304"/>
            <a:ext cx="1005840" cy="822960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418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08759" y="1469951"/>
            <a:ext cx="117408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rPr dirty="0"/>
              <a:t>SENSOR</a:t>
            </a:r>
            <a:br>
              <a:rPr dirty="0"/>
            </a:br>
            <a:r>
              <a:rPr dirty="0"/>
              <a:t>ACQUISITION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87751" y="1700784"/>
            <a:ext cx="274320" cy="0"/>
          </a:xfrm>
          <a:prstGeom prst="line">
            <a:avLst/>
          </a:prstGeom>
          <a:ln w="2286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862071" y="1289304"/>
            <a:ext cx="1005840" cy="822960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418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01111" y="1456236"/>
            <a:ext cx="1152144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rPr dirty="0"/>
              <a:t>STATE</a:t>
            </a:r>
            <a:br>
              <a:rPr dirty="0"/>
            </a:br>
            <a:r>
              <a:rPr dirty="0"/>
              <a:t>ESTIMATION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67911" y="1700784"/>
            <a:ext cx="320040" cy="0"/>
          </a:xfrm>
          <a:prstGeom prst="line">
            <a:avLst/>
          </a:prstGeom>
          <a:ln w="2286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187951" y="1289304"/>
            <a:ext cx="1097280" cy="822960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33087" y="1465487"/>
            <a:ext cx="123444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rPr dirty="0"/>
              <a:t>CONFIDENCE</a:t>
            </a:r>
            <a:br>
              <a:rPr dirty="0"/>
            </a:br>
            <a:r>
              <a:rPr dirty="0"/>
              <a:t>ASSESSMENT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285231" y="1700784"/>
            <a:ext cx="274320" cy="0"/>
          </a:xfrm>
          <a:prstGeom prst="line">
            <a:avLst/>
          </a:prstGeom>
          <a:ln w="2286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559551" y="1289304"/>
            <a:ext cx="1005840" cy="822960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418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29377" y="1447199"/>
            <a:ext cx="1100937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rPr dirty="0"/>
              <a:t>GOAL</a:t>
            </a:r>
            <a:br>
              <a:rPr dirty="0"/>
            </a:br>
            <a:r>
              <a:rPr dirty="0"/>
              <a:t>NAVIGATION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65390" y="1700784"/>
            <a:ext cx="365761" cy="0"/>
          </a:xfrm>
          <a:prstGeom prst="line">
            <a:avLst/>
          </a:prstGeom>
          <a:ln w="2286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931151" y="1289304"/>
            <a:ext cx="1051560" cy="822960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F5B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65313" y="1447198"/>
            <a:ext cx="1203351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rPr dirty="0"/>
              <a:t>OBSTACLE</a:t>
            </a:r>
            <a:br>
              <a:rPr dirty="0"/>
            </a:br>
            <a:r>
              <a:rPr dirty="0"/>
              <a:t>MONITORING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982711" y="1700784"/>
            <a:ext cx="320040" cy="0"/>
          </a:xfrm>
          <a:prstGeom prst="line">
            <a:avLst/>
          </a:prstGeom>
          <a:ln w="2286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302751" y="1289304"/>
            <a:ext cx="1051560" cy="822960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75903" y="1362456"/>
            <a:ext cx="905255" cy="4526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rPr dirty="0"/>
              <a:t>SAFETY</a:t>
            </a:r>
            <a:br>
              <a:rPr dirty="0"/>
            </a:br>
            <a:r>
              <a:rPr dirty="0"/>
              <a:t>DECISION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354311" y="1700784"/>
            <a:ext cx="320040" cy="0"/>
          </a:xfrm>
          <a:prstGeom prst="line">
            <a:avLst/>
          </a:prstGeom>
          <a:ln w="2286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674351" y="1289304"/>
            <a:ext cx="960120" cy="822960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418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53318" y="1447199"/>
            <a:ext cx="960121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rPr dirty="0"/>
              <a:t>PX4</a:t>
            </a:r>
            <a:br>
              <a:rPr dirty="0"/>
            </a:br>
            <a:r>
              <a:rPr dirty="0"/>
              <a:t>CONTROL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634471" y="1700784"/>
            <a:ext cx="320040" cy="0"/>
          </a:xfrm>
          <a:prstGeom prst="line">
            <a:avLst/>
          </a:prstGeom>
          <a:ln w="2286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954511" y="1289304"/>
            <a:ext cx="868680" cy="822960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4E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027663" y="1362456"/>
            <a:ext cx="722375" cy="4526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59350" y="3026664"/>
            <a:ext cx="2926080" cy="1325880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42231" y="3145536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2F7FC"/>
                </a:solidFill>
                <a:latin typeface="Aptos"/>
              </a:defRPr>
            </a:pPr>
            <a:r>
              <a:t>CONFIDENCE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42231" y="3483864"/>
            <a:ext cx="2560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4ED291"/>
                </a:solidFill>
                <a:latin typeface="Aptos"/>
              </a:defRPr>
            </a:pPr>
            <a:r>
              <a:t>HIGH → NORMAL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42231" y="3758184"/>
            <a:ext cx="2560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B446"/>
                </a:solidFill>
                <a:latin typeface="Aptos"/>
              </a:defRPr>
            </a:pPr>
            <a:r>
              <a:t>MEDIUM → CAUTIOUS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42231" y="4032504"/>
            <a:ext cx="2560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F5C5C"/>
                </a:solidFill>
                <a:latin typeface="Aptos"/>
              </a:defRPr>
            </a:pPr>
            <a:r>
              <a:t>LOW → SAFE HOLD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736591" y="2112264"/>
            <a:ext cx="0" cy="914400"/>
          </a:xfrm>
          <a:prstGeom prst="line">
            <a:avLst/>
          </a:prstGeom>
          <a:ln w="2286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7525511" y="3026664"/>
            <a:ext cx="3154680" cy="1325880"/>
          </a:xfrm>
          <a:prstGeom prst="roundRect">
            <a:avLst/>
          </a:prstGeom>
          <a:solidFill>
            <a:srgbClr val="0C1D2D"/>
          </a:solidFill>
          <a:ln w="12700">
            <a:solidFill>
              <a:srgbClr val="F5B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08390" y="3145536"/>
            <a:ext cx="2788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2F7FC"/>
                </a:solidFill>
                <a:latin typeface="Aptos"/>
              </a:defRPr>
            </a:pPr>
            <a:r>
              <a:t>OBSTACLE STATE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08390" y="3483864"/>
            <a:ext cx="2788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4ED291"/>
                </a:solidFill>
                <a:latin typeface="Aptos"/>
              </a:defRPr>
            </a:pPr>
            <a:r>
              <a:t>CLEAR → CONTINUE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08390" y="3758184"/>
            <a:ext cx="2788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B446"/>
                </a:solidFill>
                <a:latin typeface="Aptos"/>
              </a:defRPr>
            </a:pPr>
            <a:r>
              <a:t>WARNING → SLOW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08390" y="4032504"/>
            <a:ext cx="2788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F5C5C"/>
                </a:solidFill>
                <a:latin typeface="Aptos"/>
              </a:defRPr>
            </a:pPr>
            <a:r>
              <a:t>BLOCKED → STOP / HOVER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1" y="4791456"/>
            <a:ext cx="10332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rPr lang="en-IN" dirty="0"/>
              <a:t>Start → Sense → Estimate → Decide → Navigate → Respond → Reach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F6AACB1-C667-B1B4-5FF0-A98F5F52FD8C}"/>
              </a:ext>
            </a:extLst>
          </p:cNvPr>
          <p:cNvSpPr txBox="1"/>
          <p:nvPr/>
        </p:nvSpPr>
        <p:spPr>
          <a:xfrm>
            <a:off x="1581911" y="5319576"/>
            <a:ext cx="85959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rPr lang="en-US" sz="1600" dirty="0">
                <a:solidFill>
                  <a:schemeClr val="bg2"/>
                </a:solidFill>
              </a:rPr>
              <a:t>Novelty: </a:t>
            </a:r>
            <a:r>
              <a:rPr lang="en-US" sz="1600" dirty="0">
                <a:solidFill>
                  <a:srgbClr val="FFFF00"/>
                </a:solidFill>
              </a:rPr>
              <a:t>A lightweight confidence-aware ROS 2 navigation architecture tailored for a resource-constrained educational UAV/Drones.</a:t>
            </a:r>
            <a:endParaRPr lang="en-IN" sz="1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418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F2F7FC"/>
                </a:solidFill>
                <a:latin typeface="Aptos"/>
              </a:defRPr>
            </a:pPr>
            <a:r>
              <a:t>ROS 2 SYSTEM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A0B5C7"/>
                </a:solidFill>
                <a:latin typeface="Aptos"/>
              </a:defRPr>
            </a:pPr>
            <a:r>
              <a:t>Compact seven-node MVP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0B5C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28232"/>
            <a:ext cx="4389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 •  ROS 2 MVP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1325880"/>
            <a:ext cx="1234440" cy="621792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" y="1399032"/>
            <a:ext cx="1088136" cy="3419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t>IMU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1325880"/>
            <a:ext cx="1737360" cy="621792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418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47672" y="1399032"/>
            <a:ext cx="1591056" cy="3419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t>OPTICAL FLOW /</a:t>
            </a:r>
            <a:br/>
            <a:r>
              <a:t>LOCAL MOTION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94760" y="1325880"/>
            <a:ext cx="1325880" cy="621792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418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67912" y="1399032"/>
            <a:ext cx="1179576" cy="3419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t>RANGE</a:t>
            </a:r>
            <a:br/>
            <a:r>
              <a:t>SENSOR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1325880"/>
            <a:ext cx="1143000" cy="621792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9672" y="1399032"/>
            <a:ext cx="996696" cy="3419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2743200"/>
            <a:ext cx="1417320" cy="731520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418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7552" y="2816352"/>
            <a:ext cx="127101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t>SENSOR</a:t>
            </a:r>
            <a:br/>
            <a:r>
              <a:t>NODE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3167481"/>
            <a:ext cx="1271016" cy="2048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A0B5C7"/>
                </a:solidFill>
                <a:latin typeface="Aptos"/>
              </a:defRPr>
            </a:pPr>
            <a:r>
              <a:t>/sensors/*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88920" y="2743200"/>
            <a:ext cx="1554480" cy="731520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862072" y="2816352"/>
            <a:ext cx="140817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t>STATE</a:t>
            </a:r>
            <a:br/>
            <a:r>
              <a:t>ESTIMATOR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62072" y="3167481"/>
            <a:ext cx="1408176" cy="2048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A0B5C7"/>
                </a:solidFill>
                <a:latin typeface="Aptos"/>
              </a:defRPr>
            </a:pPr>
            <a:r>
              <a:t>odom + confidence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00600" y="2743200"/>
            <a:ext cx="1691640" cy="731520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73752" y="2816352"/>
            <a:ext cx="1545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t>CONFIDENCE</a:t>
            </a:r>
            <a:br/>
            <a:r>
              <a:t>MANAGER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73752" y="3167481"/>
            <a:ext cx="1545336" cy="2048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A0B5C7"/>
                </a:solidFill>
                <a:latin typeface="Aptos"/>
              </a:defRPr>
            </a:pPr>
            <a:r>
              <a:t>mode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0" y="2743200"/>
            <a:ext cx="1508760" cy="731520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23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22592" y="2816352"/>
            <a:ext cx="136245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t>GOAL</a:t>
            </a:r>
            <a:br/>
            <a:r>
              <a:t>MANAGER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22592" y="3167481"/>
            <a:ext cx="1362456" cy="2048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A0B5C7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400" y="2743200"/>
            <a:ext cx="1554480" cy="731520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418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88552" y="2816352"/>
            <a:ext cx="140817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t>NAVIGATION</a:t>
            </a:r>
            <a:br/>
            <a:r>
              <a:t>NODE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88552" y="3167481"/>
            <a:ext cx="1408176" cy="2048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A0B5C7"/>
                </a:solidFill>
                <a:latin typeface="Aptos"/>
              </a:defRPr>
            </a:pPr>
            <a:r>
              <a:t>command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0" y="4251960"/>
            <a:ext cx="1600200" cy="731520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F5B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59552" y="4325112"/>
            <a:ext cx="145389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t>OBSTACLE</a:t>
            </a:r>
            <a:br/>
            <a:r>
              <a:t>MONITOR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59552" y="4676241"/>
            <a:ext cx="1453896" cy="2048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A0B5C7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4251960"/>
            <a:ext cx="1554480" cy="731520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418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17152" y="4325112"/>
            <a:ext cx="140817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t>PX4 BRIDGE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17152" y="4676241"/>
            <a:ext cx="1408176" cy="2048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A0B5C7"/>
                </a:solidFill>
                <a:latin typeface="Aptos"/>
              </a:defRPr>
            </a:pPr>
            <a:r>
              <a:t>uXRCE-DDS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72600" y="5440680"/>
            <a:ext cx="1097280" cy="594360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4E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45752" y="5513832"/>
            <a:ext cx="950976" cy="3268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t>PX4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45752" y="5785408"/>
            <a:ext cx="950976" cy="1664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A0B5C7"/>
                </a:solidFill>
                <a:latin typeface="Aptos"/>
              </a:defRPr>
            </a:pPr>
            <a:r>
              <a:t>flight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97280" y="1947672"/>
            <a:ext cx="502920" cy="795528"/>
          </a:xfrm>
          <a:prstGeom prst="line">
            <a:avLst/>
          </a:prstGeom>
          <a:ln w="2286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600200" y="1947672"/>
            <a:ext cx="1143000" cy="795528"/>
          </a:xfrm>
          <a:prstGeom prst="line">
            <a:avLst/>
          </a:prstGeom>
          <a:ln w="2286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600200" y="1947672"/>
            <a:ext cx="2834640" cy="795528"/>
          </a:xfrm>
          <a:prstGeom prst="line">
            <a:avLst/>
          </a:prstGeom>
          <a:ln w="2286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331720" y="3108960"/>
            <a:ext cx="457200" cy="0"/>
          </a:xfrm>
          <a:prstGeom prst="line">
            <a:avLst/>
          </a:prstGeom>
          <a:ln w="2286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343400" y="3108960"/>
            <a:ext cx="457200" cy="0"/>
          </a:xfrm>
          <a:prstGeom prst="line">
            <a:avLst/>
          </a:prstGeom>
          <a:ln w="2286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492240" y="3108960"/>
            <a:ext cx="457200" cy="0"/>
          </a:xfrm>
          <a:prstGeom prst="line">
            <a:avLst/>
          </a:prstGeom>
          <a:ln w="2286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458200" y="3108960"/>
            <a:ext cx="457200" cy="0"/>
          </a:xfrm>
          <a:prstGeom prst="line">
            <a:avLst/>
          </a:prstGeom>
          <a:ln w="2286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022592" y="1947672"/>
            <a:ext cx="612648" cy="795528"/>
          </a:xfrm>
          <a:prstGeom prst="line">
            <a:avLst/>
          </a:prstGeom>
          <a:ln w="22860">
            <a:solidFill>
              <a:srgbClr val="23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641848" y="3474720"/>
            <a:ext cx="0" cy="777240"/>
          </a:xfrm>
          <a:prstGeom prst="line">
            <a:avLst/>
          </a:prstGeom>
          <a:ln w="22860">
            <a:solidFill>
              <a:srgbClr val="F5B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086600" y="4617720"/>
            <a:ext cx="2057400" cy="0"/>
          </a:xfrm>
          <a:prstGeom prst="line">
            <a:avLst/>
          </a:prstGeom>
          <a:ln w="22860">
            <a:solidFill>
              <a:srgbClr val="F5B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9921240" y="3474720"/>
            <a:ext cx="137160" cy="777240"/>
          </a:xfrm>
          <a:prstGeom prst="line">
            <a:avLst/>
          </a:prstGeom>
          <a:ln w="22860">
            <a:solidFill>
              <a:srgbClr val="4189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921240" y="4983480"/>
            <a:ext cx="0" cy="457200"/>
          </a:xfrm>
          <a:prstGeom prst="line">
            <a:avLst/>
          </a:prstGeom>
          <a:ln w="22860">
            <a:solidFill>
              <a:srgbClr val="4ED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14400" y="5989320"/>
            <a:ext cx="10332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2F7FC"/>
                </a:solidFill>
                <a:latin typeface="Aptos"/>
              </a:defRPr>
            </a:pPr>
            <a:r>
              <a:t>ROS 2 FLOW: SENSORS → STATE → CONFIDENCE → NAVIGATION + SAFETY → PX4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418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594360"/>
            <a:ext cx="3657" cy="5577840"/>
          </a:xfrm>
          <a:prstGeom prst="rect">
            <a:avLst/>
          </a:prstGeom>
          <a:solidFill>
            <a:srgbClr val="1B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01400" y="6428232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0B5C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28232"/>
            <a:ext cx="4389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 •  ROS 2 MVP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96596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300" b="1">
                <a:solidFill>
                  <a:srgbClr val="F2F7F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3840480"/>
            <a:ext cx="6492240" cy="960120"/>
          </a:xfrm>
          <a:prstGeom prst="roundRect">
            <a:avLst/>
          </a:prstGeom>
          <a:solidFill>
            <a:srgbClr val="102437"/>
          </a:solidFill>
          <a:ln w="12700">
            <a:solidFill>
              <a:srgbClr val="418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63240" y="4023360"/>
            <a:ext cx="6035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2F7FC"/>
                </a:solidFill>
                <a:latin typeface="Aptos"/>
              </a:defRPr>
            </a:pPr>
            <a:r>
              <a:t>Navigate when confident.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315968"/>
            <a:ext cx="6035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A0B5C7"/>
                </a:solidFill>
                <a:latin typeface="Aptos"/>
              </a:defRPr>
            </a:pPr>
            <a:r>
              <a:t>Slow when uncertain. Stop when unsafe.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488</Words>
  <Application>Microsoft Office PowerPoint</Application>
  <PresentationFormat>Widescreen</PresentationFormat>
  <Paragraphs>139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mirttul sivakumar</cp:lastModifiedBy>
  <cp:revision>2</cp:revision>
  <dcterms:created xsi:type="dcterms:W3CDTF">2013-01-27T09:14:16Z</dcterms:created>
  <dcterms:modified xsi:type="dcterms:W3CDTF">2026-08-21T04:01:30Z</dcterms:modified>
  <cp:category/>
</cp:coreProperties>
</file>