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8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09728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19456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29184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38912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48640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0B5C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100" b="1">
                <a:solidFill>
                  <a:srgbClr val="21D3EE"/>
                </a:solidFill>
                <a:latin typeface="Aptos"/>
              </a:defRPr>
            </a:pPr>
            <a:r>
              <a:t>CONFIDENCE-AWARE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4813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F2F7FC"/>
                </a:solidFill>
                <a:latin typeface="Aptos"/>
              </a:defRPr>
            </a:pPr>
            <a:r>
              <a:t>GPS-INDEPENDENT AUTONOMOUS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048256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2F7FC"/>
                </a:solidFill>
                <a:latin typeface="Aptos"/>
              </a:defRPr>
            </a:pPr>
            <a:r>
              <a:t>DRONE NAVIGATION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278892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A0B5C7"/>
                </a:solidFill>
                <a:latin typeface="Aptos"/>
              </a:defRPr>
            </a:pPr>
            <a:r>
              <a:t>Lightweight ROS 2 Architecture for an Autonomous UAV MVP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77639" y="3657600"/>
            <a:ext cx="4251960" cy="123444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3886200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2F7FC"/>
                </a:solidFill>
                <a:latin typeface="Aptos"/>
              </a:defRPr>
            </a:pPr>
            <a:r>
              <a:t>IMU   +   LOCAL MOTION   +  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4315968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1D3EE"/>
                </a:solidFill>
                <a:latin typeface="Aptos"/>
              </a:defRPr>
            </a:pPr>
            <a:r>
              <a:t>STATE → CONFIDENCE → NAVIGATION → SAFETY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532120"/>
            <a:ext cx="6172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A0B5C7"/>
                </a:solidFill>
                <a:latin typeface="Aptos"/>
              </a:defRPr>
            </a:pPr>
            <a:r>
              <a:t>PROJECT REVIEW – I  |  ROS COURSE MVP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190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8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09728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19456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29184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38912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48640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2F7FC"/>
                </a:solidFill>
                <a:latin typeface="Aptos"/>
              </a:defRPr>
            </a:pPr>
            <a:r>
              <a:t>PROJECT IDEA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What are we building?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0B5C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150876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1627631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160934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GPS-independent autonomous drone navigation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2267712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238658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2368296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Onboard sensing replaces GPS dependency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026663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3145535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127247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Local coordinate frame enables navigation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785615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3904487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3886200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Confidence controls navigation behavior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544568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466344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645152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ROS 2 integrates complete navigation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55955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1D3EE"/>
                </a:solidFill>
                <a:latin typeface="Aptos"/>
              </a:defRPr>
            </a:pPr>
            <a:r>
              <a:t>CORE MVP 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5513832"/>
            <a:ext cx="8321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2F7FC"/>
                </a:solidFill>
                <a:latin typeface="Aptos"/>
              </a:defRPr>
            </a:pPr>
            <a:r>
              <a:t>SENSORS  →  LOCAL STATE  →  GOAL  →  SAFETY  →  PX4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190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8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09728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19456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29184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38912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48640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2F7FC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Why is GPS-independent navigation necessary?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0B5C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141732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153619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151790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GPS unavailable in constrained environments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214884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226771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224942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IMU integration causes position drift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288036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2999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298094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Manual control requires continuous attention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61188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373075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371246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Localization alone cannot prevent collisions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34340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44622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44398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Complex solutions require significant resources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5440680"/>
            <a:ext cx="8503920" cy="68580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11680" y="5596128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2F7FC"/>
                </a:solidFill>
                <a:latin typeface="Aptos"/>
              </a:defRPr>
            </a:pPr>
            <a:r>
              <a:t>HOW CAN A DRONE REACH A DESTINATION WITHOUT GPS?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190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8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09728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19456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29184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38912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48640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2F7FC"/>
                </a:solidFill>
                <a:latin typeface="Aptos"/>
              </a:defRPr>
            </a:pPr>
            <a:r>
              <a:t>BACKGROUND &amp; SIGNIFICANCE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Why does this problem matter?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0B5C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132588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144475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142646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GNSS supports conventional drone navigation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2039112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215798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2139696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Indoor environments challenge satellite positioning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2752344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2871215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2852927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GPS-denied navigation improves operational resilience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465576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358444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3566160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Autonomous sensing reduces external dependency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178808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42976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279392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Applications include inspection and rescue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504688"/>
            <a:ext cx="2514600" cy="530352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623560"/>
            <a:ext cx="2368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2F7FC"/>
                </a:solidFill>
                <a:latin typeface="Aptos"/>
              </a:defRPr>
            </a:pPr>
            <a:r>
              <a:t>SEARCH &amp; RESCUE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11879" y="5504688"/>
            <a:ext cx="2514600" cy="530352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85031" y="5623560"/>
            <a:ext cx="2368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2F7FC"/>
                </a:solidFill>
                <a:latin typeface="Aptos"/>
              </a:defRPr>
            </a:pPr>
            <a:r>
              <a:t>INDUSTRIAL INSPECTION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504688"/>
            <a:ext cx="2514600" cy="530352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50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3952" y="5623560"/>
            <a:ext cx="2368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2F7FC"/>
                </a:solidFill>
                <a:latin typeface="Aptos"/>
              </a:defRPr>
            </a:pPr>
            <a:r>
              <a:t>INDOOR NAVIGATION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89719" y="5504688"/>
            <a:ext cx="2514600" cy="530352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F5B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62872" y="5623560"/>
            <a:ext cx="2368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2F7FC"/>
                </a:solidFill>
                <a:latin typeface="Aptos"/>
              </a:defRPr>
            </a:pPr>
            <a:r>
              <a:t>RESILIENT ROBOTICS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4190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8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09728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19456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29184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38912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48640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2F7FC"/>
                </a:solidFill>
                <a:latin typeface="Aptos"/>
              </a:defRPr>
            </a:pPr>
            <a:r>
              <a:t>LITERATURE SURVEY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Research basis and design implications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0B5C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1353312"/>
            <a:ext cx="10652760" cy="621792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1453896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1D3EE"/>
                </a:solidFill>
                <a:latin typeface="Aptos"/>
              </a:defRPr>
            </a:pPr>
            <a:r>
              <a:t>Gyagenda et al. (2022)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1453896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7FC"/>
                </a:solidFill>
                <a:latin typeface="Aptos"/>
              </a:defRPr>
            </a:pPr>
            <a:r>
              <a:t>GNSS-independent navigation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1453896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5C7"/>
                </a:solidFill>
                <a:latin typeface="Aptos"/>
              </a:defRPr>
            </a:pPr>
            <a:r>
              <a:t>Modular navigation pipeline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2103120"/>
            <a:ext cx="10652760" cy="621792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2203703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1D3EE"/>
                </a:solidFill>
                <a:latin typeface="Aptos"/>
              </a:defRPr>
            </a:pPr>
            <a:r>
              <a:t>Chang et al. (2023)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2203703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7FC"/>
                </a:solidFill>
                <a:latin typeface="Aptos"/>
              </a:defRPr>
            </a:pPr>
            <a:r>
              <a:t>GPS-denied UAV navigation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203703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5C7"/>
                </a:solidFill>
                <a:latin typeface="Aptos"/>
              </a:defRPr>
            </a:pPr>
            <a:r>
              <a:t>End-to-end measurable navigation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2852928"/>
            <a:ext cx="10652760" cy="621792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2953512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1D3EE"/>
                </a:solidFill>
                <a:latin typeface="Aptos"/>
              </a:defRPr>
            </a:pPr>
            <a:r>
              <a:t>Youn et al. (2021)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2953512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7FC"/>
                </a:solidFill>
                <a:latin typeface="Aptos"/>
              </a:defRPr>
            </a:pPr>
            <a:r>
              <a:t>Low-cost collision-free UAV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2953512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5C7"/>
                </a:solidFill>
                <a:latin typeface="Aptos"/>
              </a:defRPr>
            </a:pPr>
            <a:r>
              <a:t>Low-cost sensing can work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3602736"/>
            <a:ext cx="10652760" cy="621792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3703320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1D3EE"/>
                </a:solidFill>
                <a:latin typeface="Aptos"/>
              </a:defRPr>
            </a:pPr>
            <a:r>
              <a:t>Qin, Li &amp; Shen (2018)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370332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7FC"/>
                </a:solidFill>
                <a:latin typeface="Aptos"/>
              </a:defRPr>
            </a:pPr>
            <a:r>
              <a:t>Visual-inertial estimation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3703320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5C7"/>
                </a:solidFill>
                <a:latin typeface="Aptos"/>
              </a:defRPr>
            </a:pPr>
            <a:r>
              <a:t>Complementary sensing reduces drift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4352544"/>
            <a:ext cx="10652760" cy="621792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4453128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1D3EE"/>
                </a:solidFill>
                <a:latin typeface="Aptos"/>
              </a:defRPr>
            </a:pPr>
            <a:r>
              <a:t>Campos et al. (2021)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77639" y="4453128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7FC"/>
                </a:solidFill>
                <a:latin typeface="Aptos"/>
              </a:defRPr>
            </a:pPr>
            <a:r>
              <a:t>Visual / inertial SLAM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4453128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5C7"/>
                </a:solidFill>
                <a:latin typeface="Aptos"/>
              </a:defRPr>
            </a:pPr>
            <a:r>
              <a:t>Mapping improves robustness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Literature insight: IMU alone drifts • complementary sensing helps • safety must be explicit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897880"/>
            <a:ext cx="10332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A0B5C7"/>
                </a:solidFill>
                <a:latin typeface="Aptos"/>
              </a:defRPr>
            </a:pPr>
            <a:r>
              <a:t>Sources summarized from the attached literature-survey document.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4190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8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09728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19456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29184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38912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48640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2F7FC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Confidence-Aware Local Navigation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0B5C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132588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144475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142646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Onboard sensors estimate local motion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2039112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215798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2139696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State estimator maintains usable position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2752344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2871215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2852927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Confidence manager evaluates sensor reliability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465576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358444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3566160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Goal manager generates navigation targets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178808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42976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279392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Safety layer controls drone behavior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39496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1D3EE"/>
                </a:solidFill>
                <a:latin typeface="Aptos"/>
              </a:defRPr>
            </a:pPr>
            <a:r>
              <a:t>ADAPTIVE OPERATING MODES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34640" y="5285232"/>
            <a:ext cx="2331720" cy="658368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50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0" y="5376672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NORMAL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5650992"/>
            <a:ext cx="2148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A0B5C7"/>
                </a:solidFill>
                <a:latin typeface="Aptos"/>
              </a:defRPr>
            </a:pPr>
            <a:r>
              <a:t>high confidence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5285232"/>
            <a:ext cx="2331720" cy="658368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F5B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79" y="5376672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CAUTIOUS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79" y="5650992"/>
            <a:ext cx="2148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A0B5C7"/>
                </a:solidFill>
                <a:latin typeface="Aptos"/>
              </a:defRPr>
            </a:pPr>
            <a:r>
              <a:t>confidence degraded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21040" y="5285232"/>
            <a:ext cx="2331720" cy="658368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F2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5376672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SAFE HOLD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5650992"/>
            <a:ext cx="2148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A0B5C7"/>
                </a:solidFill>
                <a:latin typeface="Aptos"/>
              </a:defRPr>
            </a:pPr>
            <a:r>
              <a:t>unsafe / invalid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64190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8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09728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19456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29184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38912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48640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2F7FC"/>
                </a:solidFill>
                <a:latin typeface="Aptos"/>
              </a:defRPr>
            </a:pPr>
            <a:r>
              <a:t>PROPOSED METHODOLOGY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Closed-loop confidence-aware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0B5C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2148840"/>
            <a:ext cx="960120" cy="8229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2258568"/>
            <a:ext cx="740664" cy="4526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START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80160" y="2560320"/>
            <a:ext cx="320040" cy="0"/>
          </a:xfrm>
          <a:prstGeom prst="line">
            <a:avLst/>
          </a:prstGeom>
          <a:ln w="1905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600200" y="2148840"/>
            <a:ext cx="1051560" cy="8229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09928" y="2258568"/>
            <a:ext cx="832103" cy="4526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SENSOR</a:t>
            </a:r>
            <a:br/>
            <a:r>
              <a:t>ACQUISITION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51760" y="2560320"/>
            <a:ext cx="320040" cy="0"/>
          </a:xfrm>
          <a:prstGeom prst="line">
            <a:avLst/>
          </a:prstGeom>
          <a:ln w="1905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971800" y="2148840"/>
            <a:ext cx="1051560" cy="8229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81528" y="2258568"/>
            <a:ext cx="832103" cy="4526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STATE</a:t>
            </a:r>
            <a:br/>
            <a:r>
              <a:t>ESTIMATION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023360" y="2560320"/>
            <a:ext cx="320040" cy="0"/>
          </a:xfrm>
          <a:prstGeom prst="line">
            <a:avLst/>
          </a:prstGeom>
          <a:ln w="1905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343400" y="2148840"/>
            <a:ext cx="1097280" cy="8229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2258568"/>
            <a:ext cx="877824" cy="4526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CONFIDENCE</a:t>
            </a:r>
            <a:br/>
            <a:r>
              <a:t>ASSESSMENT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40680" y="2560320"/>
            <a:ext cx="274320" cy="0"/>
          </a:xfrm>
          <a:prstGeom prst="line">
            <a:avLst/>
          </a:prstGeom>
          <a:ln w="1905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715000" y="2148840"/>
            <a:ext cx="1051560" cy="8229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24728" y="2258568"/>
            <a:ext cx="832103" cy="4526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GOAL</a:t>
            </a:r>
            <a:br/>
            <a:r>
              <a:t>NAVIGATION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66560" y="2560320"/>
            <a:ext cx="320040" cy="0"/>
          </a:xfrm>
          <a:prstGeom prst="line">
            <a:avLst/>
          </a:prstGeom>
          <a:ln w="1905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086600" y="2148840"/>
            <a:ext cx="1051560" cy="8229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96328" y="2258568"/>
            <a:ext cx="832103" cy="4526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OBSTACLE</a:t>
            </a:r>
            <a:br/>
            <a:r>
              <a:t>MONITORING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38160" y="2560320"/>
            <a:ext cx="320040" cy="0"/>
          </a:xfrm>
          <a:prstGeom prst="line">
            <a:avLst/>
          </a:prstGeom>
          <a:ln w="1905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458200" y="2148840"/>
            <a:ext cx="1051560" cy="8229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67928" y="2258568"/>
            <a:ext cx="832103" cy="4526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SAFETY</a:t>
            </a:r>
            <a:br/>
            <a:r>
              <a:t>DECISION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09760" y="2560320"/>
            <a:ext cx="320040" cy="0"/>
          </a:xfrm>
          <a:prstGeom prst="line">
            <a:avLst/>
          </a:prstGeom>
          <a:ln w="1905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829800" y="2148840"/>
            <a:ext cx="960120" cy="8229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39528" y="2258568"/>
            <a:ext cx="740664" cy="4526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PX4</a:t>
            </a:r>
            <a:br/>
            <a:r>
              <a:t>CONTROL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789920" y="2560320"/>
            <a:ext cx="182880" cy="0"/>
          </a:xfrm>
          <a:prstGeom prst="line">
            <a:avLst/>
          </a:prstGeom>
          <a:ln w="1905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0972800" y="2148840"/>
            <a:ext cx="868680" cy="8229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50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82528" y="2258568"/>
            <a:ext cx="649224" cy="4526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60520" y="3886200"/>
            <a:ext cx="2743200" cy="13258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15968" y="404164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CONFIDENCE DECISION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5968" y="437083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0D291"/>
                </a:solidFill>
                <a:latin typeface="Aptos"/>
              </a:defRPr>
            </a:pPr>
            <a:r>
              <a:t>HIGH → NORMAL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5968" y="464515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5B446"/>
                </a:solidFill>
                <a:latin typeface="Aptos"/>
              </a:defRPr>
            </a:pPr>
            <a:r>
              <a:t>MEDIUM → CAUTIOUS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15968" y="49194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25F5F"/>
                </a:solidFill>
                <a:latin typeface="Aptos"/>
              </a:defRPr>
            </a:pPr>
            <a:r>
              <a:t>LOW → SAFE HOLD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892040" y="2971800"/>
            <a:ext cx="0" cy="914400"/>
          </a:xfrm>
          <a:prstGeom prst="line">
            <a:avLst/>
          </a:prstGeom>
          <a:ln w="1905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7543800" y="3886200"/>
            <a:ext cx="2926080" cy="13258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99248" y="4041648"/>
            <a:ext cx="2606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OBSTACLE STATES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99248" y="4370832"/>
            <a:ext cx="2606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0D291"/>
                </a:solidFill>
                <a:latin typeface="Aptos"/>
              </a:defRPr>
            </a:pPr>
            <a:r>
              <a:t>CLEAR → CONTINUE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99248" y="4645152"/>
            <a:ext cx="2606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5B446"/>
                </a:solidFill>
                <a:latin typeface="Aptos"/>
              </a:defRPr>
            </a:pPr>
            <a:r>
              <a:t>WARNING → SLOW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99248" y="4919472"/>
            <a:ext cx="2606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25F5F"/>
                </a:solidFill>
                <a:latin typeface="Aptos"/>
              </a:defRPr>
            </a:pPr>
            <a:r>
              <a:t>BLOCKED → STOP / HOVER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571500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2F7FC"/>
                </a:solidFill>
                <a:latin typeface="Aptos"/>
              </a:defRPr>
            </a:pPr>
            <a:r>
              <a:t>Navigate when confident. Slow when uncertain. Stop when unsafe.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" y="64190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8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09728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19456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29184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38912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48640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2F7FC"/>
                </a:solidFill>
                <a:latin typeface="Aptos"/>
              </a:defRPr>
            </a:pPr>
            <a:r>
              <a:t>ROS 2 SYSTEM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Seven meaningful nodes, compact MVP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0B5C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1417320"/>
            <a:ext cx="1371600" cy="64008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1527048"/>
            <a:ext cx="1152144" cy="3520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IMU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40280" y="1417320"/>
            <a:ext cx="1737360" cy="64008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50008" y="1527048"/>
            <a:ext cx="1517904" cy="3520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OPTICAL FLOW /</a:t>
            </a:r>
            <a:br/>
            <a:r>
              <a:t>LOCAL MOTION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1417320"/>
            <a:ext cx="1371600" cy="64008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15968" y="1527048"/>
            <a:ext cx="1152144" cy="3520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RANGE</a:t>
            </a:r>
            <a:br/>
            <a:r>
              <a:t>SENSOR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1417320"/>
            <a:ext cx="1463040" cy="64008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07807" y="1527048"/>
            <a:ext cx="1243584" cy="3520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GOAL</a:t>
            </a:r>
            <a:br/>
            <a:r>
              <a:t>MANAGER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2743200"/>
            <a:ext cx="1645920" cy="73152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" y="2852928"/>
            <a:ext cx="142646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SENSOR NODE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3145536"/>
            <a:ext cx="1426464" cy="2340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A0B5C7"/>
                </a:solidFill>
                <a:latin typeface="Aptos"/>
              </a:defRPr>
            </a:pPr>
            <a:r>
              <a:t>/sensors/*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54680" y="2743200"/>
            <a:ext cx="1828800" cy="73152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64408" y="2852928"/>
            <a:ext cx="160934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STATE ESTIMATOR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64408" y="3145536"/>
            <a:ext cx="1609344" cy="2340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A0B5C7"/>
                </a:solidFill>
                <a:latin typeface="Aptos"/>
              </a:defRPr>
            </a:pPr>
            <a:r>
              <a:t>odom + confidence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0" y="2743200"/>
            <a:ext cx="1737360" cy="73152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96128" y="2852928"/>
            <a:ext cx="151790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CONFIDENCE</a:t>
            </a:r>
            <a:br/>
            <a:r>
              <a:t>MANAGER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96128" y="3145536"/>
            <a:ext cx="1517904" cy="2340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A0B5C7"/>
                </a:solidFill>
                <a:latin typeface="Aptos"/>
              </a:defRPr>
            </a:pPr>
            <a:r>
              <a:t>NORMAL / CAUTIOUS / HOLD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35240" y="2743200"/>
            <a:ext cx="1737360" cy="73152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44967" y="2852928"/>
            <a:ext cx="151790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NAVIGATION</a:t>
            </a:r>
            <a:br/>
            <a:r>
              <a:t>NODE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44967" y="3145536"/>
            <a:ext cx="1517904" cy="2340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A0B5C7"/>
                </a:solidFill>
                <a:latin typeface="Aptos"/>
              </a:defRPr>
            </a:pPr>
            <a:r>
              <a:t>/navigation/cmd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0" y="4160520"/>
            <a:ext cx="1737360" cy="73152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F5B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96128" y="4270248"/>
            <a:ext cx="151790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OBSTACLE</a:t>
            </a:r>
            <a:br/>
            <a:r>
              <a:t>MONITOR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96128" y="4562856"/>
            <a:ext cx="1517904" cy="2340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A0B5C7"/>
                </a:solidFill>
                <a:latin typeface="Aptos"/>
              </a:defRPr>
            </a:pPr>
            <a:r>
              <a:t>CLEAR / WARNING / BLOCKED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29800" y="2743200"/>
            <a:ext cx="1554480" cy="73152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39528" y="2852928"/>
            <a:ext cx="133502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PX4 BRIDGE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39528" y="3145536"/>
            <a:ext cx="1335024" cy="2340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A0B5C7"/>
                </a:solidFill>
                <a:latin typeface="Aptos"/>
              </a:defRPr>
            </a:pPr>
            <a:r>
              <a:t>ROS 2 / uXRCE-DDS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58400" y="4160520"/>
            <a:ext cx="1143000" cy="73152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50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68128" y="4270248"/>
            <a:ext cx="92354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PX4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68128" y="4562856"/>
            <a:ext cx="923544" cy="2340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A0B5C7"/>
                </a:solidFill>
                <a:latin typeface="Aptos"/>
              </a:defRPr>
            </a:pPr>
            <a:r>
              <a:t>flight control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325880" y="2057400"/>
            <a:ext cx="457200" cy="685800"/>
          </a:xfrm>
          <a:prstGeom prst="line">
            <a:avLst/>
          </a:prstGeom>
          <a:ln w="1905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2011680" y="2057400"/>
            <a:ext cx="1051560" cy="685800"/>
          </a:xfrm>
          <a:prstGeom prst="line">
            <a:avLst/>
          </a:prstGeom>
          <a:ln w="1905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2011680" y="2057400"/>
            <a:ext cx="2880360" cy="685800"/>
          </a:xfrm>
          <a:prstGeom prst="line">
            <a:avLst/>
          </a:prstGeom>
          <a:ln w="1905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651760" y="3108960"/>
            <a:ext cx="502920" cy="0"/>
          </a:xfrm>
          <a:prstGeom prst="line">
            <a:avLst/>
          </a:prstGeom>
          <a:ln w="1905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983480" y="3108960"/>
            <a:ext cx="502920" cy="0"/>
          </a:xfrm>
          <a:prstGeom prst="line">
            <a:avLst/>
          </a:prstGeom>
          <a:ln w="1905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223760" y="3108960"/>
            <a:ext cx="411480" cy="0"/>
          </a:xfrm>
          <a:prstGeom prst="line">
            <a:avLst/>
          </a:prstGeom>
          <a:ln w="1905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372600" y="3108960"/>
            <a:ext cx="457200" cy="0"/>
          </a:xfrm>
          <a:prstGeom prst="line">
            <a:avLst/>
          </a:prstGeom>
          <a:ln w="1905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229600" y="2057400"/>
            <a:ext cx="182880" cy="685800"/>
          </a:xfrm>
          <a:prstGeom prst="line">
            <a:avLst/>
          </a:prstGeom>
          <a:ln w="1905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355080" y="3474720"/>
            <a:ext cx="0" cy="685800"/>
          </a:xfrm>
          <a:prstGeom prst="line">
            <a:avLst/>
          </a:prstGeom>
          <a:ln w="19050">
            <a:solidFill>
              <a:srgbClr val="F5B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223760" y="4526280"/>
            <a:ext cx="2743200" cy="0"/>
          </a:xfrm>
          <a:prstGeom prst="line">
            <a:avLst/>
          </a:prstGeom>
          <a:ln w="19050">
            <a:solidFill>
              <a:srgbClr val="F5B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561320" y="3474720"/>
            <a:ext cx="0" cy="685800"/>
          </a:xfrm>
          <a:prstGeom prst="line">
            <a:avLst/>
          </a:prstGeom>
          <a:ln w="19050">
            <a:solidFill>
              <a:srgbClr val="50D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005840" y="548640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ROS 2 DATA FLOW: SENSORS → STATE → CONFIDENCE → NAVIGATION + SAFETY → PX4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" y="64190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8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09728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19456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29184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38912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48640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2F7FC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Implementable and measurable MVP objectives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0B5C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132588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144475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142646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Build modular ROS 2 architecture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205740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21762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215798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Process onboard sensor measurements reliably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278892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2907791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2889503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Estimate local drone state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52044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363931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362102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Navigate toward predefined destination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25196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43708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35254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Demonstrate safe obstacle 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48640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1D3EE"/>
                </a:solidFill>
                <a:latin typeface="Aptos"/>
              </a:defRPr>
            </a:pPr>
            <a:r>
              <a:t>SENSING  →  ESTIMATION  →  NAVIGATION  →  SAFETY  →  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190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8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09728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19456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29184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38912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48640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2F7FC"/>
                </a:solidFill>
                <a:latin typeface="Aptos"/>
              </a:defRPr>
            </a:pPr>
            <a:r>
              <a:t>EXPECTED MVP DEMONSTRATION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What will be demonstrated, not claimed as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0B5C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132588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144475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142646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Start from defined local position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205740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21762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215798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Estimate motion without GPS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278892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2907791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2889503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Navigate toward destination autonomously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52044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363931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362102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Detect obstacle within safety zone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25196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43708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35254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Reach goal using safe behavior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1D3EE"/>
                </a:solidFill>
                <a:latin typeface="Aptos"/>
              </a:defRPr>
            </a:pPr>
            <a:r>
              <a:t>DEMONSTRATION SCENARIO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14600" y="5193792"/>
            <a:ext cx="1325880" cy="5943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24328" y="5303520"/>
            <a:ext cx="1106424" cy="3268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START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840480" y="5486400"/>
            <a:ext cx="365760" cy="0"/>
          </a:xfrm>
          <a:prstGeom prst="line">
            <a:avLst/>
          </a:prstGeom>
          <a:ln w="1778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206240" y="5193792"/>
            <a:ext cx="1325880" cy="5943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15968" y="5303520"/>
            <a:ext cx="1106424" cy="3268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NAVIGATE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532120" y="5486400"/>
            <a:ext cx="365759" cy="0"/>
          </a:xfrm>
          <a:prstGeom prst="line">
            <a:avLst/>
          </a:prstGeom>
          <a:ln w="1778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897880" y="5193792"/>
            <a:ext cx="1325880" cy="5943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F2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07608" y="5303520"/>
            <a:ext cx="1106424" cy="3268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OBSTACLE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223760" y="5486400"/>
            <a:ext cx="365760" cy="0"/>
          </a:xfrm>
          <a:prstGeom prst="line">
            <a:avLst/>
          </a:prstGeom>
          <a:ln w="1778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589520" y="5193792"/>
            <a:ext cx="1325880" cy="5943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F5B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99248" y="5303520"/>
            <a:ext cx="1106424" cy="3268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RESPOND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915400" y="5486400"/>
            <a:ext cx="365760" cy="0"/>
          </a:xfrm>
          <a:prstGeom prst="line">
            <a:avLst/>
          </a:prstGeom>
          <a:ln w="1778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281160" y="5193792"/>
            <a:ext cx="1325880" cy="5943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50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90888" y="5303520"/>
            <a:ext cx="1106424" cy="3268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C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4190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8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09728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19456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29184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38912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48640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2F7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The engineering story in one slide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0B5C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132588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144475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142646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GPS-independent navigation improves resilience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205740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21762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215798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ROS 2 enables modular integration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278892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2907791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2889503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Confidence enables adaptive safety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52044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363931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362102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Lightweight architecture supports MVP implementation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251960"/>
            <a:ext cx="10789920" cy="64008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43708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352544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Future systems can scale further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5394960"/>
            <a:ext cx="8503920" cy="64008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11680" y="555955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2F7FC"/>
                </a:solidFill>
                <a:latin typeface="Aptos"/>
              </a:defRPr>
            </a:pPr>
            <a:r>
              <a:t>COMPACT  •  CONFIDENCE-AWARE  •  GPS-INDEPENDENT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190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8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457200"/>
            <a:ext cx="7315" cy="580644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09728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19456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29184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38912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486400"/>
            <a:ext cx="11612880" cy="5486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0B5C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1828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F2F7F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74320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1D3EE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3886200"/>
            <a:ext cx="6263640" cy="96012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4069080"/>
            <a:ext cx="5897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2F7FC"/>
                </a:solidFill>
                <a:latin typeface="Aptos"/>
              </a:defRPr>
            </a:pPr>
            <a:r>
              <a:t>Navigate when confident.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370832"/>
            <a:ext cx="5897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A0B5C7"/>
                </a:solidFill>
                <a:latin typeface="Aptos"/>
              </a:defRPr>
            </a:pPr>
            <a:r>
              <a:t>Slow when uncertain. Stop when unsafe.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190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