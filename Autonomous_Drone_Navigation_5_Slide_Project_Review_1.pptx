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• ROS 2 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96012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100" b="1">
                <a:solidFill>
                  <a:srgbClr val="21D3EE"/>
                </a:solidFill>
                <a:latin typeface="Aptos"/>
              </a:defRPr>
            </a:pPr>
            <a:r>
              <a:t>CONFIDENCE-AWARE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527048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900" b="1">
                <a:solidFill>
                  <a:srgbClr val="F2F7FC"/>
                </a:solidFill>
                <a:latin typeface="Aptos"/>
              </a:defRPr>
            </a:pPr>
            <a:r>
              <a:t>GPS-INDEPENDENT AUTONOMOUS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084831"/>
            <a:ext cx="11064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2F7FC"/>
                </a:solidFill>
                <a:latin typeface="Aptos"/>
              </a:defRPr>
            </a:pPr>
            <a:r>
              <a:t>DRONE NAVIGATION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816352"/>
            <a:ext cx="9784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A0B5C7"/>
                </a:solidFill>
                <a:latin typeface="Aptos"/>
              </a:defRPr>
            </a:pPr>
            <a:r>
              <a:t>Lightweight ROS 2 Architecture for an Autonomous UAV MVP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063240" y="3749039"/>
            <a:ext cx="6080760" cy="107899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46120" y="4005072"/>
            <a:ext cx="5715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2F7FC"/>
                </a:solidFill>
                <a:latin typeface="Aptos"/>
              </a:defRPr>
            </a:pPr>
            <a:r>
              <a:t>SENSING  →  LOCAL STATE  →  NAVIGATION  → 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4370832"/>
            <a:ext cx="5715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1D3EE"/>
                </a:solidFill>
                <a:latin typeface="Aptos"/>
              </a:defRPr>
            </a:pPr>
            <a:r>
              <a:t>PROJECT REVIEW –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PROJECT IDEA, BACKGROUND &amp; SIGNIFICANCE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87782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Why this problem matters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• ROS 2 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1298448"/>
            <a:ext cx="1065276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1417319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1D3EE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1389888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7FC"/>
                </a:solidFill>
                <a:latin typeface="Aptos"/>
              </a:defRPr>
            </a:pPr>
            <a:r>
              <a:t>GPS unavailable in constrained environments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048255"/>
            <a:ext cx="1065276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2167127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1D3E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2139696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7FC"/>
                </a:solidFill>
                <a:latin typeface="Aptos"/>
              </a:defRPr>
            </a:pPr>
            <a:r>
              <a:t>IMU integration causes position drift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2798063"/>
            <a:ext cx="1065276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2916935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1D3E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2889503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7FC"/>
                </a:solidFill>
                <a:latin typeface="Aptos"/>
              </a:defRPr>
            </a:pPr>
            <a:r>
              <a:t>Onboard sensing enables local navigation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3547872"/>
            <a:ext cx="1065276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3666744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1D3E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3639312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7FC"/>
                </a:solidFill>
                <a:latin typeface="Aptos"/>
              </a:defRPr>
            </a:pPr>
            <a:r>
              <a:t>Autonomy reduces external positioning dependency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297679"/>
            <a:ext cx="1065276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416551"/>
            <a:ext cx="365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1D3E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389119"/>
            <a:ext cx="95097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2F7FC"/>
                </a:solidFill>
                <a:latin typeface="Aptos"/>
              </a:defRPr>
            </a:pPr>
            <a:r>
              <a:t>Applications include inspection and rescue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" y="5349240"/>
            <a:ext cx="2514600" cy="56692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5504688"/>
            <a:ext cx="2368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2F7FC"/>
                </a:solidFill>
                <a:latin typeface="Aptos"/>
              </a:defRPr>
            </a:pPr>
            <a:r>
              <a:t>GPS-DENIED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11879" y="5349240"/>
            <a:ext cx="2514600" cy="56692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85031" y="5504688"/>
            <a:ext cx="2368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2F7FC"/>
                </a:solidFill>
                <a:latin typeface="Aptos"/>
              </a:defRPr>
            </a:pPr>
            <a:r>
              <a:t>LOCAL STATE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5349240"/>
            <a:ext cx="2514600" cy="56692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5504688"/>
            <a:ext cx="2368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2F7FC"/>
                </a:solidFill>
                <a:latin typeface="Aptos"/>
              </a:defRPr>
            </a:pPr>
            <a:r>
              <a:t>AUTONOMY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9719" y="5349240"/>
            <a:ext cx="2514600" cy="56692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F5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62872" y="5504688"/>
            <a:ext cx="23682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F2F7FC"/>
                </a:solidFill>
                <a:latin typeface="Aptos"/>
              </a:defRPr>
            </a:pPr>
            <a:r>
              <a:t>RESILIENCE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LITERATURE SURVEY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87782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What similar research establishes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• ROS 2 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1261872"/>
            <a:ext cx="1083564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1362456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Gyagenda 2022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1362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2F7FC"/>
                </a:solidFill>
                <a:latin typeface="Aptos"/>
              </a:defRPr>
            </a:pPr>
            <a:r>
              <a:t>GNSS-independent navigation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1362456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0B5C7"/>
                </a:solidFill>
                <a:latin typeface="Aptos"/>
              </a:defRPr>
            </a:pPr>
            <a:r>
              <a:t>Modular sensing, localization, planning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2020824"/>
            <a:ext cx="1083564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2121408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Chang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2121408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2F7FC"/>
                </a:solidFill>
                <a:latin typeface="Aptos"/>
              </a:defRPr>
            </a:pPr>
            <a:r>
              <a:t>GPS-denied UAV navigation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2121408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0B5C7"/>
                </a:solidFill>
                <a:latin typeface="Aptos"/>
              </a:defRPr>
            </a:pPr>
            <a:r>
              <a:t>Mapless and map-based approaches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2779776"/>
            <a:ext cx="1083564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2880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Youn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288036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2F7FC"/>
                </a:solidFill>
                <a:latin typeface="Aptos"/>
              </a:defRPr>
            </a:pPr>
            <a:r>
              <a:t>Low-cost UAV navigation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288036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0B5C7"/>
                </a:solidFill>
                <a:latin typeface="Aptos"/>
              </a:defRPr>
            </a:pPr>
            <a:r>
              <a:t>RGB-D, LiDAR, ESKF, SLAM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538727"/>
            <a:ext cx="1083564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3639311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Qin et al. 2018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68880" y="3639311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2F7FC"/>
                </a:solidFill>
                <a:latin typeface="Aptos"/>
              </a:defRPr>
            </a:pPr>
            <a:r>
              <a:t>VINS-Mono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40680" y="3639311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0B5C7"/>
                </a:solidFill>
                <a:latin typeface="Aptos"/>
              </a:defRPr>
            </a:pPr>
            <a:r>
              <a:t>Visual-inertial state estimation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297679"/>
            <a:ext cx="1083564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1C37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4398264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1D3EE"/>
                </a:solidFill>
                <a:latin typeface="Aptos"/>
              </a:defRPr>
            </a:pPr>
            <a:r>
              <a:t>Campos et al. 2021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4398264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2F7FC"/>
                </a:solidFill>
                <a:latin typeface="Aptos"/>
              </a:defRPr>
            </a:pPr>
            <a:r>
              <a:t>ORB-SLAM3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40680" y="4398264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50" b="0">
                <a:solidFill>
                  <a:srgbClr val="A0B5C7"/>
                </a:solidFill>
                <a:latin typeface="Aptos"/>
              </a:defRPr>
            </a:pPr>
            <a:r>
              <a:t>Visual-inertial mapping and relocalization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51560" y="5230368"/>
            <a:ext cx="10058400" cy="65836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" y="5404104"/>
            <a:ext cx="9692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50" b="1">
                <a:solidFill>
                  <a:srgbClr val="F2F7FC"/>
                </a:solidFill>
                <a:latin typeface="Aptos"/>
              </a:defRPr>
            </a:pPr>
            <a:r>
              <a:t>IMU ALONE → DRIFT     •     COMPLEMENTARY SENSING → BETTER LOCAL ESTIMATION     •     SAFETY → EXPLICIT RESPONSE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" y="5989320"/>
            <a:ext cx="10149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50" b="0">
                <a:solidFill>
                  <a:srgbClr val="A0B5C7"/>
                </a:solidFill>
                <a:latin typeface="Aptos"/>
              </a:defRPr>
            </a:pPr>
            <a:r>
              <a:t>The project uses established techniques; differentiation is practical confidence-aware ROS 2 integration.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PROBLEM → OBJECTIVES →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87782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The engineering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• ROS 2 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1234440"/>
            <a:ext cx="3383280" cy="438912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F25F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144475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25F5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901952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• GPS unavailable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46888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• IMU drift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03580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• Manual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60273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• Collision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169664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• Complex systems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1234440"/>
            <a:ext cx="3383280" cy="438912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8" y="144475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21D3EE"/>
                </a:solidFill>
                <a:latin typeface="Aptos"/>
              </a:defRPr>
            </a:pPr>
            <a:r>
              <a:t>OUR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81728" y="1901952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→ Onboard sensing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246888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→ Local state estimation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81728" y="303580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→ Confidence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360273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→ Goal navigation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4169664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2F7FC"/>
                </a:solidFill>
                <a:latin typeface="Aptos"/>
              </a:defRPr>
            </a:pPr>
            <a:r>
              <a:t>→ Obstacle safety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74736" y="1234440"/>
            <a:ext cx="3383280" cy="4389120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6" y="144475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0D291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1901952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2F7FC"/>
                </a:solidFill>
                <a:latin typeface="Aptos"/>
              </a:defRPr>
            </a:pPr>
            <a:r>
              <a:t>✓ Build ROS 2 nodes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246888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2F7FC"/>
                </a:solidFill>
                <a:latin typeface="Aptos"/>
              </a:defRPr>
            </a:pPr>
            <a:r>
              <a:t>✓ Process sensor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03336" y="3035808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2F7FC"/>
                </a:solidFill>
                <a:latin typeface="Aptos"/>
              </a:defRPr>
            </a:pPr>
            <a:r>
              <a:t>✓ Estimate local state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03336" y="3602736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2F7FC"/>
                </a:solidFill>
                <a:latin typeface="Aptos"/>
              </a:defRPr>
            </a:pPr>
            <a:r>
              <a:t>✓ Reach defined goal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03336" y="4169664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1">
                <a:solidFill>
                  <a:srgbClr val="F2F7FC"/>
                </a:solidFill>
                <a:latin typeface="Aptos"/>
              </a:defRPr>
            </a:pPr>
            <a:r>
              <a:t>✓ Demonstrate safe response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023360" y="3383280"/>
            <a:ext cx="384048" cy="0"/>
          </a:xfrm>
          <a:prstGeom prst="line">
            <a:avLst/>
          </a:prstGeom>
          <a:ln w="2540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7790688" y="3383280"/>
            <a:ext cx="384048" cy="0"/>
          </a:xfrm>
          <a:prstGeom prst="line">
            <a:avLst/>
          </a:prstGeom>
          <a:ln w="2540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14400" y="585216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Core principle: Navigate when confident. Slow when uncertain. Stop when unsafe.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584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502920"/>
            <a:ext cx="5486" cy="5669280"/>
          </a:xfrm>
          <a:prstGeom prst="rect">
            <a:avLst/>
          </a:prstGeom>
          <a:solidFill>
            <a:srgbClr val="1C37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2F7FC"/>
                </a:solidFill>
                <a:latin typeface="Aptos"/>
              </a:defRPr>
            </a:pPr>
            <a:r>
              <a:t>METHODOLOGY &amp; SYSTEM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87782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0B5C7"/>
                </a:solidFill>
                <a:latin typeface="Aptos"/>
              </a:defRPr>
            </a:pPr>
            <a:r>
              <a:t>One compact ROS 2 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2823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0">
                <a:solidFill>
                  <a:srgbClr val="A0B5C7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28232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A0B5C7"/>
                </a:solidFill>
                <a:latin typeface="Aptos"/>
              </a:defRPr>
            </a:pPr>
            <a:r>
              <a:t>AUTONOMOUS DRONE NAVIGATION • ROS 2 MVP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1353312"/>
            <a:ext cx="822960" cy="62179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" y="1444752"/>
            <a:ext cx="676656" cy="323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START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234440" y="1664208"/>
            <a:ext cx="36576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600200" y="1353312"/>
            <a:ext cx="914400" cy="62179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73352" y="1444752"/>
            <a:ext cx="768096" cy="323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SENSORS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514600" y="1664208"/>
            <a:ext cx="36576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880360" y="1353312"/>
            <a:ext cx="1143000" cy="62179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53512" y="1444752"/>
            <a:ext cx="996696" cy="323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STATE</a:t>
            </a:r>
            <a:br/>
            <a:r>
              <a:t>ESTIMATION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23360" y="1664208"/>
            <a:ext cx="32004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43400" y="1353312"/>
            <a:ext cx="1051560" cy="62179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16552" y="1444752"/>
            <a:ext cx="905255" cy="323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CONFIDENCE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94960" y="1664208"/>
            <a:ext cx="41148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806440" y="1353312"/>
            <a:ext cx="1051560" cy="62179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79592" y="1444752"/>
            <a:ext cx="905255" cy="323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NAVIGATION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858000" y="1664208"/>
            <a:ext cx="36576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223760" y="1353312"/>
            <a:ext cx="914400" cy="62179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F5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6912" y="1444752"/>
            <a:ext cx="768096" cy="323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SAFETY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138160" y="1664208"/>
            <a:ext cx="41148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549640" y="1353312"/>
            <a:ext cx="822960" cy="62179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22792" y="1444752"/>
            <a:ext cx="676656" cy="323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PX4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372600" y="1664208"/>
            <a:ext cx="45720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829800" y="1353312"/>
            <a:ext cx="822960" cy="62179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902952" y="1444752"/>
            <a:ext cx="676656" cy="323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233172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1D3EE"/>
                </a:solidFill>
                <a:latin typeface="Aptos"/>
              </a:defRPr>
            </a:pPr>
            <a:r>
              <a:t>ROS 2 SYSTEM ARCHITECTURE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2697480"/>
            <a:ext cx="914400" cy="56692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1" y="2788920"/>
            <a:ext cx="768096" cy="2948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IMU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737360" y="2697480"/>
            <a:ext cx="1234440" cy="56692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810512" y="2788920"/>
            <a:ext cx="1088136" cy="2948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FLOW /</a:t>
            </a:r>
            <a:br/>
            <a:r>
              <a:t>LOCAL MOTION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54680" y="2697480"/>
            <a:ext cx="914400" cy="566928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27832" y="2788920"/>
            <a:ext cx="768096" cy="29480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RANGE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3566160"/>
            <a:ext cx="118872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01952" y="3657600"/>
            <a:ext cx="1042416" cy="3090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SENSOR</a:t>
            </a:r>
            <a:br/>
            <a:r>
              <a:t>NODE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83280" y="3566160"/>
            <a:ext cx="123444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56432" y="3657600"/>
            <a:ext cx="1088136" cy="3090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STATE</a:t>
            </a:r>
            <a:br/>
            <a:r>
              <a:t>ESTIMATOR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83480" y="3566160"/>
            <a:ext cx="141732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56632" y="3657600"/>
            <a:ext cx="1271016" cy="3090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CONFIDENCE</a:t>
            </a:r>
            <a:br/>
            <a:r>
              <a:t>MANAGER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66560" y="3566160"/>
            <a:ext cx="132588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39712" y="3657600"/>
            <a:ext cx="1179576" cy="3090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NAVIGATION</a:t>
            </a:r>
            <a:br/>
            <a:r>
              <a:t>NODE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983480" y="4480560"/>
            <a:ext cx="141732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F5B4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56632" y="4572000"/>
            <a:ext cx="1271016" cy="3090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OBSTACLE</a:t>
            </a:r>
            <a:br/>
            <a:r>
              <a:t>MONITOR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549640" y="3566160"/>
            <a:ext cx="118872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3584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22792" y="3657600"/>
            <a:ext cx="1042416" cy="3090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PX4</a:t>
            </a:r>
            <a:br/>
            <a:r>
              <a:t>BRIDGE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32520" y="4480560"/>
            <a:ext cx="914400" cy="594360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05672" y="4572000"/>
            <a:ext cx="768096" cy="3090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F2F7FC"/>
                </a:solidFill>
                <a:latin typeface="Aptos"/>
              </a:defRPr>
            </a:pPr>
            <a:r>
              <a:t>PX4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1097280" y="3264408"/>
            <a:ext cx="1234440" cy="301752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2331720" y="3264408"/>
            <a:ext cx="0" cy="301752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H="1">
            <a:off x="2331720" y="3264408"/>
            <a:ext cx="1280160" cy="301752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017520" y="3867912"/>
            <a:ext cx="36576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617720" y="3867912"/>
            <a:ext cx="36576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6400800" y="3867912"/>
            <a:ext cx="36576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8092440" y="3867912"/>
            <a:ext cx="457200" cy="0"/>
          </a:xfrm>
          <a:prstGeom prst="line">
            <a:avLst/>
          </a:prstGeom>
          <a:ln w="15240">
            <a:solidFill>
              <a:srgbClr val="21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696712" y="4160520"/>
            <a:ext cx="0" cy="320040"/>
          </a:xfrm>
          <a:prstGeom prst="line">
            <a:avLst/>
          </a:prstGeom>
          <a:ln w="15240">
            <a:solidFill>
              <a:srgbClr val="F5B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400800" y="4782312"/>
            <a:ext cx="2331720" cy="0"/>
          </a:xfrm>
          <a:prstGeom prst="line">
            <a:avLst/>
          </a:prstGeom>
          <a:ln w="15240">
            <a:solidFill>
              <a:srgbClr val="F5B4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125712" y="4160520"/>
            <a:ext cx="18288" cy="320040"/>
          </a:xfrm>
          <a:prstGeom prst="line">
            <a:avLst/>
          </a:prstGeom>
          <a:ln w="15240">
            <a:solidFill>
              <a:srgbClr val="50D2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640080" y="5413248"/>
            <a:ext cx="6217920" cy="621792"/>
          </a:xfrm>
          <a:prstGeom prst="roundRect">
            <a:avLst/>
          </a:prstGeom>
          <a:solidFill>
            <a:srgbClr val="0D1F30"/>
          </a:solidFill>
          <a:ln w="12700">
            <a:solidFill>
              <a:srgbClr val="21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" y="5586984"/>
            <a:ext cx="5852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NORMAL  →  CAUTIOUS  →  SAFE HOLD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132320" y="5413248"/>
            <a:ext cx="4389120" cy="621792"/>
          </a:xfrm>
          <a:prstGeom prst="roundRect">
            <a:avLst/>
          </a:prstGeom>
          <a:solidFill>
            <a:srgbClr val="122B41"/>
          </a:solidFill>
          <a:ln w="12700">
            <a:solidFill>
              <a:srgbClr val="50D2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15200" y="5586984"/>
            <a:ext cx="4023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2F7FC"/>
                </a:solidFill>
                <a:latin typeface="Aptos"/>
              </a:defRPr>
            </a:pPr>
            <a:r>
              <a:t>THANK YOU  • 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